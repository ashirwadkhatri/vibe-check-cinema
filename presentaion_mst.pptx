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0" r:id="rId6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71323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19786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68249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16712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65176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13639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62102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10565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59028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507492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555955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604418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652881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2860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71323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19786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168249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16712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65176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13639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62102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10565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59028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507492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555955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604418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652881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8872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INTELLIGENCE DASHBOARD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1828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Vibecheck Cinema</a:t>
            </a:r>
            <a:endParaRPr lang="en-US" sz="54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2788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+ YouTube Data Pipeline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data caching  •  sentiment analysis  •  resilient discovery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188720" y="507492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B2942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88720" y="5074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37560" y="507492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B2942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37560" y="5074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0" y="507492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B2942"/>
          </a:solidFill>
          <a:ln w="12700">
            <a:solidFill>
              <a:srgbClr val="8FA6C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0" y="5074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+ YouTube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Pipeline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9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391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Unified Discovery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single interface for movie metadata and audience signals across multiple sources.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9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0391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Unstructured Data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743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comments are high-volume and unstructured; the pipeline must extract a clear sentiment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9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622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API Efficiency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663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provider calls for every visitor increase latency and consume TMDB/YouTube quotas.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9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4622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Resilience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1663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cache decouples the user experience from temporary upstream API failures.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Flow at a Glance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338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Gateway → Cache Service → PostgreSQL (SQLAlchemy ORM). TMDB metadata is lazily refetched on cache miss or expiry; YouTube review data is fetched live from the cache service on every request and never stored.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5" name="Picture 24" descr="diagra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408" y="1508760"/>
            <a:ext cx="5259185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PATH · TMDB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TMDB Movie-Data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Metadata Collection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Popular, Now Playing, Upcoming, Top Rated, Search, Details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mapped to a clean schema — ID, Title, Overview, Poster URL, Rating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73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fetch adds Credits (Director, Cast) and Videos (Trailers)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cache keys drive every PostgreSQL lookup — same request, same key, same row.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810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 GENERATION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Key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33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search:batman:page=1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200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Key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502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list:popular:page=1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069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Details Key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370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movie:27205:details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75120" y="4983480"/>
            <a:ext cx="466344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5166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stable strings used for PostgreSQL lookups.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Refresh Intervals &amp; Timestamp Formula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88920"/>
        </p:xfrm>
        <a:graphic>
          <a:graphicData uri="http://schemas.openxmlformats.org/drawingml/2006/table">
            <a:tbl>
              <a:tblPr/>
              <a:tblGrid>
                <a:gridCol w="3749040"/>
                <a:gridCol w="2103120"/>
                <a:gridCol w="5212080"/>
              </a:tblGrid>
              <a:tr h="697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Interval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Lists (Popular,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C6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TMDB called after 6h or on cache miss.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C6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searches reuse stored JSON.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C6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changes slowly; long-term cache.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6177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expires_at = current_utc_time + selected_ttl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4617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Refresh: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is not refreshed by a timer. The next request after expiry triggers a fresh API call.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80" name="Text Note"/>
          <p:cNvSpPr txBox="1"/>
          <p:nvPr/>
        </p:nvSpPr>
        <p:spPr>
          <a:xfrm>
            <a:off x="548640" y="58516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TMDB responses are cached. YouTube review data has no TTL row — it is fetched live on every request and never written to PostgreSQL.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PATH · YOUTUBE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YouTube Review-Data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103120"/>
            <a:ext cx="731520" cy="73152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31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16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Video Search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up to 5 relevant English review videos using the query: “{title} movie review.”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87368" y="3026664"/>
            <a:ext cx="237744" cy="164592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783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37860" y="2103120"/>
            <a:ext cx="731520" cy="73152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378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16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 Collection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520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up to 40 top-level comments per video via the commentThreads endpoint.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82128" y="3026664"/>
            <a:ext cx="237744" cy="164592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783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32620" y="2103120"/>
            <a:ext cx="731520" cy="731520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6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16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Scoring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520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go straight to the lexicon scorer and back to the user — nothing is written to the cache table.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FETCHING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1389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YouTube collection fails, TMDB metadata is still returned with a recorded source error.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Comments to a Movie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B2942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Lexicon-Based Scoring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algorithm counts predefined positive and negative words in review sentences.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SCORED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3FC1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320040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3FC1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5960" y="320040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67228" y="320040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3FC1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7228" y="3200400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320040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3FC1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320040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1788" y="32004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3FC1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1788" y="32004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886200"/>
            <a:ext cx="475488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0690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handle sarcasm, negation, or complex context (non-ML approach).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B2942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Verdict Thresholds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37960" y="2500000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0B1220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25000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250000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Positive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3477240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0B1220"/>
          </a:solidFill>
          <a:ln w="12700">
            <a:solidFill>
              <a:srgbClr val="D468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347724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34772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Negative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454480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0B1220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445448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44544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/ Not Scored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Runs 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4228"/>
            <a:ext cx="603504" cy="603504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42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2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78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 Shell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0" cy="594360"/>
          </a:xfrm>
          <a:prstGeom prst="line">
            <a:avLst/>
          </a:prstGeom>
          <a:noFill/>
          <a:ln w="12700">
            <a:solidFill>
              <a:srgbClr val="E3E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91640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Firebase Authentication and mounts the dashboard shell.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20924"/>
            <a:ext cx="603504" cy="603504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8209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2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782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779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Cinema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27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 / JS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825496"/>
            <a:ext cx="0" cy="594360"/>
          </a:xfrm>
          <a:prstGeom prst="line">
            <a:avLst/>
          </a:prstGeom>
          <a:noFill/>
          <a:ln w="12700">
            <a:solidFill>
              <a:srgbClr val="E3E1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688336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main discovery UI, loaded via iframe in the React shell.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817620"/>
            <a:ext cx="603504" cy="603504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8176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2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782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776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 Gateway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1239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822192"/>
            <a:ext cx="0" cy="594360"/>
          </a:xfrm>
          <a:prstGeom prst="line">
            <a:avLst/>
          </a:prstGeom>
          <a:noFill/>
          <a:ln w="12700">
            <a:solidFill>
              <a:srgbClr val="E3E1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3685032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requests, handles tRPC, and provides an in-memory cache fallback.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7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814316"/>
            <a:ext cx="603504" cy="603504"/>
          </a:xfrm>
          <a:prstGeom prst="ellipse">
            <a:avLst/>
          </a:prstGeom>
          <a:solidFill>
            <a:srgbClr val="141C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8143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2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782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773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Cache Service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120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4818888"/>
            <a:ext cx="0" cy="594360"/>
          </a:xfrm>
          <a:prstGeom prst="line">
            <a:avLst/>
          </a:prstGeom>
          <a:noFill/>
          <a:ln w="12700">
            <a:solidFill>
              <a:srgbClr val="E3E1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92040" y="4681728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persistent PostgreSQL cache and sentiment pipeline.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71323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19786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68249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16712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65176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13639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62102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10565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59028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507492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555955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604418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652881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2860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71323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19786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168249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16712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65176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13639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62102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10565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59028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507492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5559552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604418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652881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D4A2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430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3" name="Shape 31"/>
          <p:cNvSpPr/>
          <p:nvPr/>
        </p:nvSpPr>
        <p:spPr>
          <a:xfrm>
            <a:off x="1097280" y="182880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/>
        </p:spPr>
      </p:sp>
      <p:sp>
        <p:nvSpPr>
          <p:cNvPr id="34" name="Shape 32"/>
          <p:cNvSpPr/>
          <p:nvPr/>
        </p:nvSpPr>
        <p:spPr>
          <a:xfrm>
            <a:off x="1325880" y="2011680"/>
            <a:ext cx="594360" cy="5943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3258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5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755" dirty="0"/>
          </a:p>
        </p:txBody>
      </p:sp>
      <p:sp>
        <p:nvSpPr>
          <p:cNvPr id="36" name="Text 34"/>
          <p:cNvSpPr txBox="1"/>
          <p:nvPr/>
        </p:nvSpPr>
        <p:spPr>
          <a:xfrm>
            <a:off x="2194560" y="182880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architecture separates auth, UI, and data services.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1097280" y="297180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/>
        </p:spPr>
      </p:sp>
      <p:sp>
        <p:nvSpPr>
          <p:cNvPr id="38" name="Shape 36"/>
          <p:cNvSpPr/>
          <p:nvPr/>
        </p:nvSpPr>
        <p:spPr>
          <a:xfrm>
            <a:off x="1325880" y="3154680"/>
            <a:ext cx="594360" cy="5943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3258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5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755" dirty="0"/>
          </a:p>
        </p:txBody>
      </p:sp>
      <p:sp>
        <p:nvSpPr>
          <p:cNvPr id="40" name="Text 38"/>
          <p:cNvSpPr txBox="1"/>
          <p:nvPr/>
        </p:nvSpPr>
        <p:spPr>
          <a:xfrm>
            <a:off x="2194560" y="297180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caching reduces API latency and quota consumption.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1097280" y="411480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/>
        </p:spPr>
      </p:sp>
      <p:sp>
        <p:nvSpPr>
          <p:cNvPr id="42" name="Shape 40"/>
          <p:cNvSpPr/>
          <p:nvPr/>
        </p:nvSpPr>
        <p:spPr>
          <a:xfrm>
            <a:off x="1325880" y="4297680"/>
            <a:ext cx="594360" cy="5943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32588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5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755" dirty="0"/>
          </a:p>
        </p:txBody>
      </p:sp>
      <p:sp>
        <p:nvSpPr>
          <p:cNvPr id="44" name="Text 42"/>
          <p:cNvSpPr txBox="1"/>
          <p:nvPr/>
        </p:nvSpPr>
        <p:spPr>
          <a:xfrm>
            <a:off x="2194560" y="411480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refresh strategy ensures data freshness without background overhead.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1097280" y="525780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1B2942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5880" y="5440680"/>
            <a:ext cx="594360" cy="59436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32588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5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755" dirty="0"/>
          </a:p>
        </p:txBody>
      </p:sp>
      <p:sp>
        <p:nvSpPr>
          <p:cNvPr id="48" name="Text 46"/>
          <p:cNvSpPr txBox="1"/>
          <p:nvPr/>
        </p:nvSpPr>
        <p:spPr>
          <a:xfrm>
            <a:off x="2194560" y="525780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0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sentiment provides immediate, interpretable audience signals.</a:t>
            </a:r>
            <a:endParaRPr lang="en-US" sz="15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VIBECHECK CINEMA  •  TMDB + YOUTUBE DATA PIPELINE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2026-09-15T15:00:56Z</dcterms:created>
  <dcterms:modified xsi:type="dcterms:W3CDTF">2026-09-15T15:00:56Z</dcterms:modified>
</cp:coreProperties>
</file>